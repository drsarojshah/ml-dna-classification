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9" r:id="rId4"/>
    <p:sldId id="270" r:id="rId5"/>
    <p:sldId id="271" r:id="rId6"/>
    <p:sldId id="258" r:id="rId7"/>
    <p:sldId id="259" r:id="rId8"/>
    <p:sldId id="260" r:id="rId9"/>
    <p:sldId id="272" r:id="rId10"/>
    <p:sldId id="267" r:id="rId11"/>
    <p:sldId id="268" r:id="rId12"/>
    <p:sldId id="261" r:id="rId13"/>
    <p:sldId id="263"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5" autoAdjust="0"/>
    <p:restoredTop sz="94660"/>
  </p:normalViewPr>
  <p:slideViewPr>
    <p:cSldViewPr snapToGrid="0">
      <p:cViewPr varScale="1">
        <p:scale>
          <a:sx n="72" d="100"/>
          <a:sy n="72" d="100"/>
        </p:scale>
        <p:origin x="68" y="1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4/22/2025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4/22/2025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hyperlink" Target="https://doi.org/10.24432/C5S01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D185C-87CC-0174-0DA1-2B8DA553131D}"/>
              </a:ext>
            </a:extLst>
          </p:cNvPr>
          <p:cNvSpPr>
            <a:spLocks noGrp="1"/>
          </p:cNvSpPr>
          <p:nvPr>
            <p:ph type="ctrTitle"/>
          </p:nvPr>
        </p:nvSpPr>
        <p:spPr>
          <a:xfrm>
            <a:off x="1483661" y="1257299"/>
            <a:ext cx="9224677" cy="4033157"/>
          </a:xfrm>
        </p:spPr>
        <p:txBody>
          <a:bodyPr>
            <a:normAutofit fontScale="90000"/>
          </a:bodyPr>
          <a:lstStyle/>
          <a:p>
            <a:pPr marL="0" marR="0" algn="ctr">
              <a:lnSpc>
                <a:spcPct val="200000"/>
              </a:lnSpc>
              <a:spcAft>
                <a:spcPts val="800"/>
              </a:spcAft>
            </a:pPr>
            <a:br>
              <a:rPr lang="en-US" sz="2200" b="1" dirty="0">
                <a:effectLst/>
                <a:latin typeface="Times New Roman" panose="02020603050405020304" pitchFamily="18" charset="0"/>
                <a:ea typeface="Calibri" panose="020F0502020204030204" pitchFamily="34" charset="0"/>
                <a:cs typeface="Times New Roman" panose="02020603050405020304" pitchFamily="18" charset="0"/>
              </a:rPr>
            </a:br>
            <a:br>
              <a:rPr lang="en-US" sz="1200" dirty="0">
                <a:effectLst/>
                <a:latin typeface="Calibri" panose="020F0502020204030204" pitchFamily="34" charset="0"/>
                <a:ea typeface="Calibri" panose="020F0502020204030204" pitchFamily="34" charset="0"/>
                <a:cs typeface="Times New Roman" panose="02020603050405020304" pitchFamily="18" charset="0"/>
              </a:rPr>
            </a:b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27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Applying Machine Learning </a:t>
            </a:r>
            <a:br>
              <a:rPr lang="en-US" sz="27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rPr>
            </a:br>
            <a:r>
              <a:rPr lang="en-US" sz="27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Modules </a:t>
            </a:r>
            <a:r>
              <a:rPr lang="en-US" sz="2700" b="1" cap="none"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on a</a:t>
            </a:r>
            <a:r>
              <a:rPr lang="en-US" sz="27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 DNA strand </a:t>
            </a:r>
            <a:r>
              <a:rPr lang="en-US" sz="2700" b="1" cap="none"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i.e.,</a:t>
            </a:r>
            <a:r>
              <a:rPr lang="en-US" sz="27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700" b="1" cap="none"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on a</a:t>
            </a:r>
            <a:r>
              <a:rPr lang="en-US" sz="27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 </a:t>
            </a:r>
            <a:br>
              <a:rPr lang="en-US" sz="27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7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Prompter Genes</a:t>
            </a:r>
            <a:br>
              <a:rPr lang="en-US" sz="27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7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Project Progress Update</a:t>
            </a:r>
            <a:br>
              <a:rPr lang="en-US" sz="36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7BE0A8B8-A2F3-2DBA-0324-2FB0028A0A30}"/>
              </a:ext>
            </a:extLst>
          </p:cNvPr>
          <p:cNvSpPr>
            <a:spLocks noGrp="1"/>
          </p:cNvSpPr>
          <p:nvPr>
            <p:ph type="subTitle" idx="1"/>
          </p:nvPr>
        </p:nvSpPr>
        <p:spPr>
          <a:xfrm>
            <a:off x="1876424" y="4974604"/>
            <a:ext cx="7503550" cy="1156775"/>
          </a:xfrm>
        </p:spPr>
        <p:txBody>
          <a:bodyPr/>
          <a:lstStyle/>
          <a:p>
            <a:pPr marL="0" marR="0" algn="ctr">
              <a:lnSpc>
                <a:spcPct val="200000"/>
              </a:lnSpc>
              <a:spcAft>
                <a:spcPts val="800"/>
              </a:spcAft>
            </a:pPr>
            <a:r>
              <a:rPr lang="en-US" sz="20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By: Saroj Shah</a:t>
            </a:r>
            <a:endParaRPr lang="en-US" sz="14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088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57E01-EFD1-D332-1591-C6C4CD3CBD2E}"/>
              </a:ext>
            </a:extLst>
          </p:cNvPr>
          <p:cNvSpPr>
            <a:spLocks noGrp="1"/>
          </p:cNvSpPr>
          <p:nvPr>
            <p:ph type="title"/>
          </p:nvPr>
        </p:nvSpPr>
        <p:spPr>
          <a:xfrm>
            <a:off x="1220071" y="1228118"/>
            <a:ext cx="9905998" cy="1478570"/>
          </a:xfrm>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Introduction: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A5C8E61-67BD-5FA8-B8E2-EE3F071D69C7}"/>
              </a:ext>
            </a:extLst>
          </p:cNvPr>
          <p:cNvSpPr>
            <a:spLocks noGrp="1"/>
          </p:cNvSpPr>
          <p:nvPr>
            <p:ph idx="1"/>
          </p:nvPr>
        </p:nvSpPr>
        <p:spPr>
          <a:xfrm>
            <a:off x="1143000" y="2269152"/>
            <a:ext cx="9905999" cy="2941945"/>
          </a:xfrm>
        </p:spPr>
        <p:txBody>
          <a:bodyPr/>
          <a:lstStyle/>
          <a:p>
            <a:pPr marL="228600" marR="0" lvl="0" indent="-228600" algn="l"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 The project focuses on applying various machine learning (ML) techniques to DNA </a:t>
            </a: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rPr>
              <a:t>strands of </a:t>
            </a:r>
            <a:r>
              <a:rPr kumimoji="0" lang="en-US" sz="1800" b="0" i="1"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rPr>
              <a:t>E. coli</a:t>
            </a:r>
            <a:r>
              <a:rPr lang="en-US" sz="1800" dirty="0">
                <a:solidFill>
                  <a:prstClr val="white"/>
                </a:solidFill>
                <a:latin typeface="Times New Roman" panose="02020603050405020304" pitchFamily="18" charset="0"/>
                <a:ea typeface="Calibri" panose="020F0502020204030204" pitchFamily="34" charset="0"/>
              </a:rPr>
              <a:t> (especially the promoter gene).</a:t>
            </a: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endParaRPr>
          </a:p>
          <a:p>
            <a:pPr>
              <a:defRPr/>
            </a:pPr>
            <a:r>
              <a:rPr lang="en-US" sz="1800" dirty="0">
                <a:latin typeface="Times New Roman" panose="02020603050405020304" pitchFamily="18" charset="0"/>
                <a:ea typeface="Calibri" panose="020F0502020204030204" pitchFamily="34" charset="0"/>
              </a:rPr>
              <a:t>DNA classification is the process of categorizing DNA sequences into specific groups based on their characteristics. </a:t>
            </a: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endParaRPr>
          </a:p>
          <a:p>
            <a:pPr marL="228600" marR="0" lvl="0" indent="-228600" algn="l"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endParaRPr>
          </a:p>
          <a:p>
            <a:pPr marL="0" indent="0">
              <a:buNone/>
            </a:pPr>
            <a:endParaRPr lang="en-US" dirty="0"/>
          </a:p>
        </p:txBody>
      </p:sp>
      <p:pic>
        <p:nvPicPr>
          <p:cNvPr id="6" name="Picture 5">
            <a:extLst>
              <a:ext uri="{FF2B5EF4-FFF2-40B4-BE49-F238E27FC236}">
                <a16:creationId xmlns:a16="http://schemas.microsoft.com/office/drawing/2014/main" id="{154123FA-EF35-D09E-7046-939FBC0DC32E}"/>
              </a:ext>
            </a:extLst>
          </p:cNvPr>
          <p:cNvPicPr>
            <a:picLocks noChangeAspect="1"/>
          </p:cNvPicPr>
          <p:nvPr/>
        </p:nvPicPr>
        <p:blipFill>
          <a:blip r:embed="rId2"/>
          <a:stretch>
            <a:fillRect/>
          </a:stretch>
        </p:blipFill>
        <p:spPr>
          <a:xfrm>
            <a:off x="3316134" y="3573616"/>
            <a:ext cx="5597047" cy="2549511"/>
          </a:xfrm>
          <a:prstGeom prst="rect">
            <a:avLst/>
          </a:prstGeom>
        </p:spPr>
      </p:pic>
    </p:spTree>
    <p:extLst>
      <p:ext uri="{BB962C8B-B14F-4D97-AF65-F5344CB8AC3E}">
        <p14:creationId xmlns:p14="http://schemas.microsoft.com/office/powerpoint/2010/main" val="2401574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63344-C169-CBAA-0D73-827CDDE88C9E}"/>
              </a:ext>
            </a:extLst>
          </p:cNvPr>
          <p:cNvSpPr>
            <a:spLocks noGrp="1"/>
          </p:cNvSpPr>
          <p:nvPr>
            <p:ph type="title"/>
          </p:nvPr>
        </p:nvSpPr>
        <p:spPr>
          <a:xfrm>
            <a:off x="1220071" y="1066799"/>
            <a:ext cx="9905998" cy="1478570"/>
          </a:xfrm>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Purpose and goals: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378D5FC-61DE-F333-4023-4C860C33A616}"/>
              </a:ext>
            </a:extLst>
          </p:cNvPr>
          <p:cNvSpPr>
            <a:spLocks noGrp="1"/>
          </p:cNvSpPr>
          <p:nvPr>
            <p:ph idx="1"/>
          </p:nvPr>
        </p:nvSpPr>
        <p:spPr/>
        <p:txBody>
          <a:bodyPr/>
          <a:lstStyle/>
          <a:p>
            <a:r>
              <a:rPr lang="en-US" sz="1800" dirty="0">
                <a:effectLst/>
                <a:latin typeface="Times New Roman" panose="02020603050405020304" pitchFamily="18" charset="0"/>
                <a:ea typeface="Calibri" panose="020F0502020204030204" pitchFamily="34" charset="0"/>
              </a:rPr>
              <a:t>The primary goal of this project is to apply appropriate ML techniques such as preprocessing, training and testing, and evaluation to the imported dataset to develop the most suitable ML algorithm for DNA/RNA strand classification.</a:t>
            </a:r>
          </a:p>
          <a:p>
            <a:r>
              <a:rPr lang="en-US" sz="1800" dirty="0">
                <a:effectLst/>
                <a:latin typeface="Times New Roman" panose="02020603050405020304" pitchFamily="18" charset="0"/>
                <a:ea typeface="Calibri" panose="020F0502020204030204" pitchFamily="34" charset="0"/>
              </a:rPr>
              <a:t>This classification can serve as a foundation for future research, particularly in identifying various disease-causing bacteria and viruses. </a:t>
            </a:r>
          </a:p>
          <a:p>
            <a:pPr marL="0" indent="0">
              <a:buNone/>
            </a:pPr>
            <a:endParaRPr lang="en-US" sz="1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67591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6DBC-70FA-D4DF-941C-11420FB769CB}"/>
              </a:ext>
            </a:extLst>
          </p:cNvPr>
          <p:cNvSpPr>
            <a:spLocks noGrp="1"/>
          </p:cNvSpPr>
          <p:nvPr>
            <p:ph type="title"/>
          </p:nvPr>
        </p:nvSpPr>
        <p:spPr>
          <a:xfrm>
            <a:off x="1141412" y="1229032"/>
            <a:ext cx="9905998" cy="1379333"/>
          </a:xfrm>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Approach and methodology:</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A26D67C-278D-708F-05E3-FC5E7B8A6D6E}"/>
              </a:ext>
            </a:extLst>
          </p:cNvPr>
          <p:cNvSpPr>
            <a:spLocks noGrp="1"/>
          </p:cNvSpPr>
          <p:nvPr>
            <p:ph idx="1"/>
          </p:nvPr>
        </p:nvSpPr>
        <p:spPr/>
        <p:txBody>
          <a:bodyPr/>
          <a:lstStyle/>
          <a:p>
            <a:r>
              <a:rPr lang="en-US" sz="1800" dirty="0">
                <a:effectLst/>
                <a:latin typeface="Times New Roman" panose="02020603050405020304" pitchFamily="18" charset="0"/>
                <a:ea typeface="Calibri" panose="020F0502020204030204" pitchFamily="34" charset="0"/>
              </a:rPr>
              <a:t>MATLAB will be used to write and simulate ML code</a:t>
            </a:r>
          </a:p>
          <a:p>
            <a:r>
              <a:rPr lang="en-US" sz="1800" dirty="0">
                <a:latin typeface="Times New Roman" panose="02020603050405020304" pitchFamily="18" charset="0"/>
                <a:ea typeface="Calibri" panose="020F0502020204030204" pitchFamily="34" charset="0"/>
              </a:rPr>
              <a:t>The methodology consists of three phases – </a:t>
            </a:r>
          </a:p>
          <a:p>
            <a:pPr lvl="1"/>
            <a:r>
              <a:rPr lang="en-US" sz="1800" dirty="0">
                <a:latin typeface="Times New Roman" panose="02020603050405020304" pitchFamily="18" charset="0"/>
                <a:ea typeface="Calibri" panose="020F0502020204030204" pitchFamily="34" charset="0"/>
              </a:rPr>
              <a:t>The F</a:t>
            </a:r>
            <a:r>
              <a:rPr lang="en-US" sz="1800" dirty="0">
                <a:effectLst/>
                <a:latin typeface="Times New Roman" panose="02020603050405020304" pitchFamily="18" charset="0"/>
                <a:ea typeface="Calibri" panose="020F0502020204030204" pitchFamily="34" charset="0"/>
              </a:rPr>
              <a:t>irst phase includes Data Collection, encoding, and fixing missing or misaligned nucleosides and other necessary data transformations.</a:t>
            </a:r>
          </a:p>
          <a:p>
            <a:pPr lvl="1"/>
            <a:r>
              <a:rPr lang="en-US" sz="1800" dirty="0">
                <a:latin typeface="Times New Roman" panose="02020603050405020304" pitchFamily="18" charset="0"/>
                <a:ea typeface="Calibri" panose="020F0502020204030204" pitchFamily="34" charset="0"/>
              </a:rPr>
              <a:t>The Second phase focuses on </a:t>
            </a:r>
            <a:r>
              <a:rPr lang="en-US" sz="1800" dirty="0">
                <a:effectLst/>
                <a:latin typeface="Times New Roman" panose="02020603050405020304" pitchFamily="18" charset="0"/>
                <a:ea typeface="Calibri" panose="020F0502020204030204" pitchFamily="34" charset="0"/>
              </a:rPr>
              <a:t>training, testing, and evaluating performance (scores) by using various methods like K-Nearest Neighbors, Neural Net, and others.</a:t>
            </a:r>
          </a:p>
          <a:p>
            <a:pPr lvl="1"/>
            <a:r>
              <a:rPr lang="en-US" sz="1800" dirty="0">
                <a:latin typeface="Times New Roman" panose="02020603050405020304" pitchFamily="18" charset="0"/>
                <a:ea typeface="Calibri" panose="020F0502020204030204" pitchFamily="34" charset="0"/>
              </a:rPr>
              <a:t> The third phase involves comparing scores to determine the most effective methods for the </a:t>
            </a:r>
            <a:r>
              <a:rPr lang="en-US" sz="1800" dirty="0">
                <a:effectLst/>
                <a:latin typeface="Times New Roman" panose="02020603050405020304" pitchFamily="18" charset="0"/>
                <a:ea typeface="Calibri" panose="020F0502020204030204" pitchFamily="34" charset="0"/>
              </a:rPr>
              <a:t>DNA/RNA classification.</a:t>
            </a:r>
            <a:endParaRPr lang="en-US" dirty="0"/>
          </a:p>
        </p:txBody>
      </p:sp>
    </p:spTree>
    <p:extLst>
      <p:ext uri="{BB962C8B-B14F-4D97-AF65-F5344CB8AC3E}">
        <p14:creationId xmlns:p14="http://schemas.microsoft.com/office/powerpoint/2010/main" val="3334165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7FEF-039A-7655-CE3B-14F3E7C2DC7D}"/>
              </a:ext>
            </a:extLst>
          </p:cNvPr>
          <p:cNvSpPr>
            <a:spLocks noGrp="1"/>
          </p:cNvSpPr>
          <p:nvPr>
            <p:ph type="title"/>
          </p:nvPr>
        </p:nvSpPr>
        <p:spPr>
          <a:xfrm>
            <a:off x="1141413" y="618518"/>
            <a:ext cx="9905998" cy="1166763"/>
          </a:xfrm>
        </p:spPr>
        <p:txBody>
          <a:bodyPr>
            <a:normAutofit/>
          </a:bodyPr>
          <a:lstStyle/>
          <a:p>
            <a:r>
              <a:rPr lang="en-US" sz="1800" b="1" dirty="0">
                <a:latin typeface="Times New Roman" panose="02020603050405020304" pitchFamily="18" charset="0"/>
                <a:cs typeface="Times New Roman" panose="02020603050405020304" pitchFamily="18" charset="0"/>
              </a:rPr>
              <a:t>Data Collection:</a:t>
            </a:r>
          </a:p>
        </p:txBody>
      </p:sp>
      <p:sp>
        <p:nvSpPr>
          <p:cNvPr id="3" name="Content Placeholder 2">
            <a:extLst>
              <a:ext uri="{FF2B5EF4-FFF2-40B4-BE49-F238E27FC236}">
                <a16:creationId xmlns:a16="http://schemas.microsoft.com/office/drawing/2014/main" id="{806F85E7-983A-3C8D-B8CC-C08A7933CA70}"/>
              </a:ext>
            </a:extLst>
          </p:cNvPr>
          <p:cNvSpPr>
            <a:spLocks noGrp="1"/>
          </p:cNvSpPr>
          <p:nvPr>
            <p:ph idx="1"/>
          </p:nvPr>
        </p:nvSpPr>
        <p:spPr>
          <a:xfrm>
            <a:off x="1079536" y="1785281"/>
            <a:ext cx="9905999" cy="3570515"/>
          </a:xfrm>
        </p:spPr>
        <p:txBody>
          <a:bodyPr/>
          <a:lstStyle/>
          <a:p>
            <a:pPr marL="228600" marR="0" lvl="0" indent="-228600" algn="l"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r>
              <a:rPr lang="en-US" sz="1800" dirty="0">
                <a:latin typeface="Times New Roman" panose="02020603050405020304" pitchFamily="18" charset="0"/>
                <a:cs typeface="Times New Roman" panose="02020603050405020304" pitchFamily="18" charset="0"/>
              </a:rPr>
              <a:t>For the project, the dataset can either be used directly from the UC Irvine Machine Learning Repository:</a:t>
            </a: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1800" b="0" i="0"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rPr>
              <a:t>https://archive.ics.uci.edu/ml/.../</a:t>
            </a:r>
            <a:r>
              <a:rPr kumimoji="0" lang="en-US" sz="1800" b="0" i="0" strike="noStrike" kern="1200" cap="none" spc="0" normalizeH="0" baseline="0" noProof="0" dirty="0" err="1">
                <a:ln>
                  <a:noFill/>
                </a:ln>
                <a:solidFill>
                  <a:prstClr val="white"/>
                </a:solidFill>
                <a:effectLst/>
                <a:uLnTx/>
                <a:uFillTx/>
                <a:latin typeface="Times New Roman" panose="02020603050405020304" pitchFamily="18" charset="0"/>
                <a:ea typeface="Calibri" panose="020F0502020204030204" pitchFamily="34" charset="0"/>
                <a:cs typeface="+mn-cs"/>
              </a:rPr>
              <a:t>promoters.data</a:t>
            </a:r>
            <a:endParaRPr kumimoji="0" lang="en-US" sz="1800" b="0" i="0"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endParaRPr>
          </a:p>
          <a:p>
            <a:pPr marL="0" marR="0" lvl="0" indent="0" algn="l" defTabSz="914400" rtl="0" eaLnBrk="1" fontAlgn="auto" latinLnBrk="0" hangingPunct="1">
              <a:lnSpc>
                <a:spcPct val="120000"/>
              </a:lnSpc>
              <a:spcBef>
                <a:spcPts val="1000"/>
              </a:spcBef>
              <a:spcAft>
                <a:spcPts val="0"/>
              </a:spcAft>
              <a:buClrTx/>
              <a:buSzPct val="125000"/>
              <a:buNone/>
              <a:tabLst/>
              <a:defRPr/>
            </a:pPr>
            <a:endParaRPr kumimoji="0" lang="en-US" sz="14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endParaRPr>
          </a:p>
          <a:p>
            <a:endParaRPr lang="en-US" dirty="0"/>
          </a:p>
          <a:p>
            <a:r>
              <a:rPr lang="en-US" sz="1800" dirty="0">
                <a:latin typeface="Times New Roman" panose="02020603050405020304" pitchFamily="18" charset="0"/>
                <a:cs typeface="Times New Roman" panose="02020603050405020304" pitchFamily="18" charset="0"/>
              </a:rPr>
              <a:t>Or it can be downloaded and stored locally for safer and more reliable access during the project.</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For this project, the second method is used.</a:t>
            </a:r>
          </a:p>
        </p:txBody>
      </p:sp>
      <p:pic>
        <p:nvPicPr>
          <p:cNvPr id="6" name="Picture 5">
            <a:extLst>
              <a:ext uri="{FF2B5EF4-FFF2-40B4-BE49-F238E27FC236}">
                <a16:creationId xmlns:a16="http://schemas.microsoft.com/office/drawing/2014/main" id="{D494ECF9-BEC8-099D-7AEF-6B697F3C7DC2}"/>
              </a:ext>
            </a:extLst>
          </p:cNvPr>
          <p:cNvPicPr>
            <a:picLocks noChangeAspect="1"/>
          </p:cNvPicPr>
          <p:nvPr/>
        </p:nvPicPr>
        <p:blipFill>
          <a:blip r:embed="rId2"/>
          <a:stretch>
            <a:fillRect/>
          </a:stretch>
        </p:blipFill>
        <p:spPr>
          <a:xfrm>
            <a:off x="2263347" y="2705287"/>
            <a:ext cx="6838665" cy="814315"/>
          </a:xfrm>
          <a:prstGeom prst="rect">
            <a:avLst/>
          </a:prstGeom>
        </p:spPr>
      </p:pic>
      <p:pic>
        <p:nvPicPr>
          <p:cNvPr id="8" name="Picture 7">
            <a:extLst>
              <a:ext uri="{FF2B5EF4-FFF2-40B4-BE49-F238E27FC236}">
                <a16:creationId xmlns:a16="http://schemas.microsoft.com/office/drawing/2014/main" id="{F56BE019-D703-0885-AD1F-78E42F889E6F}"/>
              </a:ext>
            </a:extLst>
          </p:cNvPr>
          <p:cNvPicPr>
            <a:picLocks noChangeAspect="1"/>
          </p:cNvPicPr>
          <p:nvPr/>
        </p:nvPicPr>
        <p:blipFill>
          <a:blip r:embed="rId3"/>
          <a:stretch>
            <a:fillRect/>
          </a:stretch>
        </p:blipFill>
        <p:spPr>
          <a:xfrm>
            <a:off x="1288967" y="4051026"/>
            <a:ext cx="9105900" cy="539750"/>
          </a:xfrm>
          <a:prstGeom prst="rect">
            <a:avLst/>
          </a:prstGeom>
        </p:spPr>
      </p:pic>
    </p:spTree>
    <p:extLst>
      <p:ext uri="{BB962C8B-B14F-4D97-AF65-F5344CB8AC3E}">
        <p14:creationId xmlns:p14="http://schemas.microsoft.com/office/powerpoint/2010/main" val="3804128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63344-C169-CBAA-0D73-827CDDE88C9E}"/>
              </a:ext>
            </a:extLst>
          </p:cNvPr>
          <p:cNvSpPr>
            <a:spLocks noGrp="1"/>
          </p:cNvSpPr>
          <p:nvPr>
            <p:ph type="title"/>
          </p:nvPr>
        </p:nvSpPr>
        <p:spPr>
          <a:xfrm>
            <a:off x="1002620" y="599132"/>
            <a:ext cx="2208929" cy="1230919"/>
          </a:xfrm>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About Data:</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378D5FC-61DE-F333-4023-4C860C33A616}"/>
              </a:ext>
            </a:extLst>
          </p:cNvPr>
          <p:cNvSpPr>
            <a:spLocks noGrp="1"/>
          </p:cNvSpPr>
          <p:nvPr>
            <p:ph idx="1"/>
          </p:nvPr>
        </p:nvSpPr>
        <p:spPr>
          <a:xfrm>
            <a:off x="1002620" y="1308942"/>
            <a:ext cx="9905999" cy="4949926"/>
          </a:xfrm>
        </p:spPr>
        <p:txBody>
          <a:bodyPr>
            <a:normAutofit/>
          </a:bodyPr>
          <a:lstStyle/>
          <a:p>
            <a:r>
              <a:rPr lang="en-US" sz="1800" dirty="0">
                <a:effectLst/>
                <a:latin typeface="Times New Roman" panose="02020603050405020304" pitchFamily="18" charset="0"/>
                <a:ea typeface="Calibri" panose="020F0502020204030204" pitchFamily="34" charset="0"/>
              </a:rPr>
              <a:t>The dataset </a:t>
            </a:r>
            <a:r>
              <a:rPr lang="en-US" sz="1800" dirty="0">
                <a:latin typeface="Times New Roman" panose="02020603050405020304" pitchFamily="18" charset="0"/>
                <a:ea typeface="Calibri" panose="020F0502020204030204" pitchFamily="34" charset="0"/>
              </a:rPr>
              <a:t>contains </a:t>
            </a: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rPr>
              <a:t>105 rows (DNA sequence) and </a:t>
            </a:r>
            <a:r>
              <a:rPr lang="en-US" sz="1800" dirty="0">
                <a:solidFill>
                  <a:prstClr val="white"/>
                </a:solidFill>
                <a:latin typeface="Times New Roman" panose="02020603050405020304" pitchFamily="18" charset="0"/>
                <a:ea typeface="Calibri" panose="020F0502020204030204" pitchFamily="34" charset="0"/>
              </a:rPr>
              <a:t>2</a:t>
            </a:r>
            <a:r>
              <a:rPr lang="en-US" sz="1800" dirty="0">
                <a:latin typeface="Times New Roman" panose="02020603050405020304" pitchFamily="18" charset="0"/>
                <a:ea typeface="Calibri" panose="020F0502020204030204" pitchFamily="34" charset="0"/>
              </a:rPr>
              <a:t> columns. Each row includes:</a:t>
            </a:r>
          </a:p>
          <a:p>
            <a:pPr marL="461963"/>
            <a:r>
              <a:rPr lang="en-US" sz="1800" dirty="0">
                <a:effectLst/>
                <a:latin typeface="Times New Roman" panose="02020603050405020304" pitchFamily="18" charset="0"/>
                <a:ea typeface="Calibri" panose="020F0502020204030204" pitchFamily="34" charset="0"/>
              </a:rPr>
              <a:t>Column 1 (Line 1): the label (either 1 or 0)</a:t>
            </a:r>
          </a:p>
          <a:p>
            <a:pPr marL="461963"/>
            <a:r>
              <a:rPr lang="en-US" sz="1800" dirty="0">
                <a:effectLst/>
                <a:latin typeface="Times New Roman" panose="02020603050405020304" pitchFamily="18" charset="0"/>
                <a:ea typeface="Calibri" panose="020F0502020204030204" pitchFamily="34" charset="0"/>
              </a:rPr>
              <a:t>Column 2 (Line 2): a sequence of 57 nucleotides (DNA base pairs), i.e., 57 features.</a:t>
            </a:r>
          </a:p>
          <a:p>
            <a:r>
              <a:rPr lang="en-US" sz="1800" dirty="0">
                <a:effectLst/>
                <a:latin typeface="Times New Roman" panose="02020603050405020304" pitchFamily="18" charset="0"/>
                <a:ea typeface="Calibri" panose="020F0502020204030204" pitchFamily="34" charset="0"/>
              </a:rPr>
              <a:t>There are two types of labels:</a:t>
            </a:r>
          </a:p>
          <a:p>
            <a:pPr marL="461963"/>
            <a:r>
              <a:rPr lang="en-US" sz="1800" dirty="0">
                <a:effectLst/>
                <a:latin typeface="Times New Roman" panose="02020603050405020304" pitchFamily="18" charset="0"/>
                <a:ea typeface="Calibri" panose="020F0502020204030204" pitchFamily="34" charset="0"/>
              </a:rPr>
              <a:t>Label 1: Promoter gene — involved in initiating DNA replication</a:t>
            </a:r>
          </a:p>
          <a:p>
            <a:pPr marL="461963"/>
            <a:r>
              <a:rPr lang="en-US" sz="1800" dirty="0">
                <a:effectLst/>
                <a:latin typeface="Times New Roman" panose="02020603050405020304" pitchFamily="18" charset="0"/>
                <a:ea typeface="Calibri" panose="020F0502020204030204" pitchFamily="34" charset="0"/>
              </a:rPr>
              <a:t>Label 0: Non-promoter gene — performs other functions such as protein synthesis.</a:t>
            </a:r>
          </a:p>
          <a:p>
            <a:pPr marL="461963"/>
            <a:endParaRPr lang="en-US" sz="1800" dirty="0">
              <a:effectLst/>
              <a:latin typeface="Times New Roman" panose="02020603050405020304" pitchFamily="18" charset="0"/>
              <a:ea typeface="Calibri" panose="020F0502020204030204" pitchFamily="34" charset="0"/>
            </a:endParaRPr>
          </a:p>
          <a:p>
            <a:pPr marL="0" indent="0">
              <a:buNone/>
            </a:pPr>
            <a:endParaRPr lang="en-US" sz="1800" dirty="0">
              <a:effectLst/>
              <a:latin typeface="Times New Roman" panose="02020603050405020304" pitchFamily="18" charset="0"/>
              <a:ea typeface="Calibri" panose="020F0502020204030204" pitchFamily="34" charset="0"/>
            </a:endParaRPr>
          </a:p>
          <a:p>
            <a:pPr marL="0" indent="0">
              <a:buNone/>
            </a:pPr>
            <a:endParaRPr lang="en-US" sz="1800" dirty="0">
              <a:latin typeface="Times New Roman" panose="02020603050405020304" pitchFamily="18" charset="0"/>
              <a:ea typeface="Calibri" panose="020F0502020204030204" pitchFamily="34" charset="0"/>
            </a:endParaRPr>
          </a:p>
        </p:txBody>
      </p:sp>
      <p:pic>
        <p:nvPicPr>
          <p:cNvPr id="5" name="Picture 4">
            <a:extLst>
              <a:ext uri="{FF2B5EF4-FFF2-40B4-BE49-F238E27FC236}">
                <a16:creationId xmlns:a16="http://schemas.microsoft.com/office/drawing/2014/main" id="{C057E7B6-21D5-B369-2DD3-CD164DA7EBEA}"/>
              </a:ext>
            </a:extLst>
          </p:cNvPr>
          <p:cNvPicPr>
            <a:picLocks noChangeAspect="1"/>
          </p:cNvPicPr>
          <p:nvPr/>
        </p:nvPicPr>
        <p:blipFill>
          <a:blip r:embed="rId2"/>
          <a:stretch>
            <a:fillRect/>
          </a:stretch>
        </p:blipFill>
        <p:spPr>
          <a:xfrm>
            <a:off x="1478424" y="4037076"/>
            <a:ext cx="3564093" cy="2520489"/>
          </a:xfrm>
          <a:prstGeom prst="rect">
            <a:avLst/>
          </a:prstGeom>
        </p:spPr>
      </p:pic>
      <p:pic>
        <p:nvPicPr>
          <p:cNvPr id="7" name="Picture 6">
            <a:extLst>
              <a:ext uri="{FF2B5EF4-FFF2-40B4-BE49-F238E27FC236}">
                <a16:creationId xmlns:a16="http://schemas.microsoft.com/office/drawing/2014/main" id="{23FC51AA-D323-310C-AF1E-416BAD4DC747}"/>
              </a:ext>
            </a:extLst>
          </p:cNvPr>
          <p:cNvPicPr>
            <a:picLocks noChangeAspect="1"/>
          </p:cNvPicPr>
          <p:nvPr/>
        </p:nvPicPr>
        <p:blipFill>
          <a:blip r:embed="rId3"/>
          <a:stretch>
            <a:fillRect/>
          </a:stretch>
        </p:blipFill>
        <p:spPr>
          <a:xfrm>
            <a:off x="6262247" y="4037076"/>
            <a:ext cx="4069324" cy="2289575"/>
          </a:xfrm>
          <a:prstGeom prst="rect">
            <a:avLst/>
          </a:prstGeom>
        </p:spPr>
      </p:pic>
    </p:spTree>
    <p:extLst>
      <p:ext uri="{BB962C8B-B14F-4D97-AF65-F5344CB8AC3E}">
        <p14:creationId xmlns:p14="http://schemas.microsoft.com/office/powerpoint/2010/main" val="1776286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6DBC-70FA-D4DF-941C-11420FB769CB}"/>
              </a:ext>
            </a:extLst>
          </p:cNvPr>
          <p:cNvSpPr>
            <a:spLocks noGrp="1"/>
          </p:cNvSpPr>
          <p:nvPr>
            <p:ph type="title"/>
          </p:nvPr>
        </p:nvSpPr>
        <p:spPr>
          <a:xfrm>
            <a:off x="1141413" y="668315"/>
            <a:ext cx="9905998" cy="1379333"/>
          </a:xfrm>
        </p:spPr>
        <p:txBody>
          <a:bodyPr>
            <a:normAutofit/>
          </a:bodyPr>
          <a:lstStyle/>
          <a:p>
            <a:r>
              <a:rPr lang="en-US" sz="1800" b="1" dirty="0">
                <a:latin typeface="Times New Roman" panose="02020603050405020304" pitchFamily="18" charset="0"/>
                <a:cs typeface="Times New Roman" panose="02020603050405020304" pitchFamily="18" charset="0"/>
              </a:rPr>
              <a:t>Data Set-Up:</a:t>
            </a:r>
          </a:p>
        </p:txBody>
      </p:sp>
      <p:sp>
        <p:nvSpPr>
          <p:cNvPr id="3" name="Content Placeholder 2">
            <a:extLst>
              <a:ext uri="{FF2B5EF4-FFF2-40B4-BE49-F238E27FC236}">
                <a16:creationId xmlns:a16="http://schemas.microsoft.com/office/drawing/2014/main" id="{7A26D67C-278D-708F-05E3-FC5E7B8A6D6E}"/>
              </a:ext>
            </a:extLst>
          </p:cNvPr>
          <p:cNvSpPr>
            <a:spLocks noGrp="1"/>
          </p:cNvSpPr>
          <p:nvPr>
            <p:ph idx="1"/>
          </p:nvPr>
        </p:nvSpPr>
        <p:spPr>
          <a:xfrm>
            <a:off x="1141412" y="2251493"/>
            <a:ext cx="9905999" cy="3004869"/>
          </a:xfrm>
        </p:spPr>
        <p:txBody>
          <a:bodyPr/>
          <a:lstStyle/>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Data Import &amp; Setup: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After importing the dataset, the columns were renamed as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Class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ID</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Sequence</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p>
          <a:p>
            <a:r>
              <a:rPr lang="en-US" sz="1800" kern="100" dirty="0">
                <a:latin typeface="Times New Roman" panose="02020603050405020304" pitchFamily="18" charset="0"/>
                <a:ea typeface="Calibri" panose="020F0502020204030204" pitchFamily="34" charset="0"/>
                <a:cs typeface="Times New Roman" panose="02020603050405020304" pitchFamily="18" charset="0"/>
              </a:rPr>
              <a:t>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he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Class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ID</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columns were then converted to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string data types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for easier manipulation.</a:t>
            </a:r>
          </a:p>
          <a:p>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800" dirty="0">
              <a:effectLst/>
              <a:latin typeface="Times New Roman" panose="02020603050405020304" pitchFamily="18" charset="0"/>
              <a:ea typeface="Calibri" panose="020F0502020204030204" pitchFamily="34" charset="0"/>
            </a:endParaRPr>
          </a:p>
          <a:p>
            <a:endParaRPr lang="en-US" sz="1800" dirty="0">
              <a:latin typeface="Times New Roman" panose="02020603050405020304" pitchFamily="18" charset="0"/>
              <a:ea typeface="Calibri" panose="020F0502020204030204" pitchFamily="34" charset="0"/>
            </a:endParaRPr>
          </a:p>
          <a:p>
            <a:endParaRPr lang="en-US" sz="1800" dirty="0">
              <a:effectLst/>
              <a:latin typeface="Times New Roman" panose="02020603050405020304" pitchFamily="18" charset="0"/>
              <a:ea typeface="Calibri" panose="020F0502020204030204" pitchFamily="34" charset="0"/>
            </a:endParaRPr>
          </a:p>
          <a:p>
            <a:endParaRPr lang="en-US" sz="1800" dirty="0">
              <a:latin typeface="Times New Roman" panose="02020603050405020304" pitchFamily="18" charset="0"/>
              <a:ea typeface="Calibri" panose="020F0502020204030204" pitchFamily="34" charset="0"/>
            </a:endParaRPr>
          </a:p>
          <a:p>
            <a:endParaRPr lang="en-US" sz="1800" dirty="0">
              <a:effectLst/>
              <a:latin typeface="Times New Roman" panose="02020603050405020304" pitchFamily="18" charset="0"/>
              <a:ea typeface="Calibri" panose="020F0502020204030204" pitchFamily="34" charset="0"/>
            </a:endParaRPr>
          </a:p>
          <a:p>
            <a:endParaRPr lang="en-US" sz="1800" dirty="0">
              <a:effectLst/>
              <a:latin typeface="Times New Roman" panose="02020603050405020304" pitchFamily="18" charset="0"/>
              <a:ea typeface="Calibri" panose="020F0502020204030204" pitchFamily="34" charset="0"/>
            </a:endParaRPr>
          </a:p>
        </p:txBody>
      </p:sp>
      <p:pic>
        <p:nvPicPr>
          <p:cNvPr id="10" name="Picture 9">
            <a:extLst>
              <a:ext uri="{FF2B5EF4-FFF2-40B4-BE49-F238E27FC236}">
                <a16:creationId xmlns:a16="http://schemas.microsoft.com/office/drawing/2014/main" id="{6966AD13-6D39-9A5F-8FAB-03FE3B2116D5}"/>
              </a:ext>
            </a:extLst>
          </p:cNvPr>
          <p:cNvPicPr>
            <a:picLocks noChangeAspect="1"/>
          </p:cNvPicPr>
          <p:nvPr/>
        </p:nvPicPr>
        <p:blipFill>
          <a:blip r:embed="rId2"/>
          <a:stretch>
            <a:fillRect/>
          </a:stretch>
        </p:blipFill>
        <p:spPr>
          <a:xfrm>
            <a:off x="2627851" y="3753927"/>
            <a:ext cx="6364247" cy="1502435"/>
          </a:xfrm>
          <a:prstGeom prst="rect">
            <a:avLst/>
          </a:prstGeom>
        </p:spPr>
      </p:pic>
    </p:spTree>
    <p:extLst>
      <p:ext uri="{BB962C8B-B14F-4D97-AF65-F5344CB8AC3E}">
        <p14:creationId xmlns:p14="http://schemas.microsoft.com/office/powerpoint/2010/main" val="2156605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B319E-1CDA-D397-FF05-C5869E0E704A}"/>
              </a:ext>
            </a:extLst>
          </p:cNvPr>
          <p:cNvSpPr>
            <a:spLocks noGrp="1"/>
          </p:cNvSpPr>
          <p:nvPr>
            <p:ph type="title"/>
          </p:nvPr>
        </p:nvSpPr>
        <p:spPr>
          <a:xfrm>
            <a:off x="1218927" y="1201198"/>
            <a:ext cx="9905998" cy="1478570"/>
          </a:xfrm>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Pre-processing: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3CD759F-1E2B-F6DF-5E1E-4E04C67A8BBD}"/>
              </a:ext>
            </a:extLst>
          </p:cNvPr>
          <p:cNvSpPr>
            <a:spLocks noGrp="1"/>
          </p:cNvSpPr>
          <p:nvPr>
            <p:ph idx="1"/>
          </p:nvPr>
        </p:nvSpPr>
        <p:spPr/>
        <p:txBody>
          <a:bodyPr>
            <a:normAutofit/>
          </a:bodyPr>
          <a:lstStyle/>
          <a:p>
            <a:pPr marR="0" lvl="0" defTabSz="914400" rtl="0" eaLnBrk="1" fontAlgn="auto" latinLnBrk="0" hangingPunct="1">
              <a:spcBef>
                <a:spcPts val="1000"/>
              </a:spcBef>
              <a:spcAft>
                <a:spcPts val="0"/>
              </a:spcAft>
              <a:buClrTx/>
              <a:buSzPct val="125000"/>
              <a:buFont typeface="Arial" panose="020B0604020202020204" pitchFamily="34" charset="0"/>
              <a:buChar char="•"/>
              <a:tabLst/>
              <a:defRPr/>
            </a:pPr>
            <a:r>
              <a:rPr kumimoji="0" lang="en-US" sz="18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Cleaning: </a:t>
            </a:r>
            <a:r>
              <a:rPr kumimoji="0" lang="en-US" sz="1800" b="0"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Removed </a:t>
            </a:r>
            <a:r>
              <a:rPr kumimoji="0" lang="en-US" sz="18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whitespace</a:t>
            </a:r>
            <a:r>
              <a:rPr kumimoji="0" lang="en-US" sz="1800" b="0"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18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tabs</a:t>
            </a:r>
            <a:r>
              <a:rPr kumimoji="0" lang="en-US" sz="1800" b="0"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and </a:t>
            </a:r>
            <a:r>
              <a:rPr kumimoji="0" lang="en-US" sz="18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prefix characters</a:t>
            </a:r>
            <a:r>
              <a:rPr kumimoji="0" lang="en-US" sz="1800" b="0"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from raw data</a:t>
            </a:r>
          </a:p>
          <a:p>
            <a:pPr marR="0" lvl="0" defTabSz="914400" rtl="0" eaLnBrk="1" fontAlgn="auto" latinLnBrk="0" hangingPunct="1">
              <a:spcBef>
                <a:spcPts val="1000"/>
              </a:spcBef>
              <a:spcAft>
                <a:spcPts val="0"/>
              </a:spcAft>
              <a:buClrTx/>
              <a:buSzPct val="125000"/>
              <a:buFont typeface="Arial" panose="020B0604020202020204" pitchFamily="34" charset="0"/>
              <a:buChar char="•"/>
              <a:tabLst/>
              <a:defRPr/>
            </a:pPr>
            <a:r>
              <a:rPr kumimoji="0" lang="en-US" sz="18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Sequence Filtering: </a:t>
            </a:r>
            <a:r>
              <a:rPr kumimoji="0" lang="en-US" sz="1800" b="0"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Retained only valid nucleotides: </a:t>
            </a:r>
            <a:r>
              <a:rPr kumimoji="0" lang="en-US" sz="18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A, C, G, T</a:t>
            </a:r>
            <a:r>
              <a:rPr kumimoji="0" lang="en-US" sz="1800" b="0"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using </a:t>
            </a:r>
            <a:r>
              <a:rPr kumimoji="0" lang="en-US" sz="18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regex</a:t>
            </a:r>
            <a:endParaRPr kumimoji="0" lang="en-US" sz="1800" b="0"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228600" marR="0" lvl="1">
              <a:spcBef>
                <a:spcPts val="1000"/>
              </a:spcBef>
              <a:buFont typeface="Arial" panose="020B0604020202020204" pitchFamily="34" charset="0"/>
              <a:buChar char="•"/>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Encoding: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Mapped nucleotides to numbers: </a:t>
            </a: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A = 1</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 = 2</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G = 3</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T = 4</a:t>
            </a:r>
            <a:endParaRPr lang="en-US" sz="1800" b="1" dirty="0">
              <a:effectLst/>
              <a:latin typeface="Times New Roman" panose="02020603050405020304" pitchFamily="18" charset="0"/>
              <a:ea typeface="Calibri" panose="020F0502020204030204" pitchFamily="34" charset="0"/>
            </a:endParaRPr>
          </a:p>
          <a:p>
            <a:pPr marL="800100" indent="-342900">
              <a:lnSpc>
                <a:spcPct val="200000"/>
              </a:lnSpc>
              <a:spcAft>
                <a:spcPts val="800"/>
              </a:spcAft>
            </a:pPr>
            <a:endParaRPr lang="en-US" sz="1800" dirty="0">
              <a:effectLst/>
              <a:latin typeface="Times New Roman" panose="02020603050405020304" pitchFamily="18" charset="0"/>
              <a:ea typeface="Calibri" panose="020F0502020204030204" pitchFamily="34" charset="0"/>
            </a:endParaRPr>
          </a:p>
        </p:txBody>
      </p:sp>
      <p:pic>
        <p:nvPicPr>
          <p:cNvPr id="5" name="Picture 4">
            <a:extLst>
              <a:ext uri="{FF2B5EF4-FFF2-40B4-BE49-F238E27FC236}">
                <a16:creationId xmlns:a16="http://schemas.microsoft.com/office/drawing/2014/main" id="{7F5CC4B6-DF91-9602-7D48-3E8F9E40D49F}"/>
              </a:ext>
            </a:extLst>
          </p:cNvPr>
          <p:cNvPicPr>
            <a:picLocks noChangeAspect="1"/>
          </p:cNvPicPr>
          <p:nvPr/>
        </p:nvPicPr>
        <p:blipFill>
          <a:blip r:embed="rId2"/>
          <a:stretch>
            <a:fillRect/>
          </a:stretch>
        </p:blipFill>
        <p:spPr>
          <a:xfrm>
            <a:off x="1218927" y="4521001"/>
            <a:ext cx="4029215" cy="977913"/>
          </a:xfrm>
          <a:prstGeom prst="rect">
            <a:avLst/>
          </a:prstGeom>
        </p:spPr>
      </p:pic>
      <p:pic>
        <p:nvPicPr>
          <p:cNvPr id="7" name="Picture 6">
            <a:extLst>
              <a:ext uri="{FF2B5EF4-FFF2-40B4-BE49-F238E27FC236}">
                <a16:creationId xmlns:a16="http://schemas.microsoft.com/office/drawing/2014/main" id="{C471EC1D-49CE-40DF-183C-44EC2EA09552}"/>
              </a:ext>
            </a:extLst>
          </p:cNvPr>
          <p:cNvPicPr>
            <a:picLocks noChangeAspect="1"/>
          </p:cNvPicPr>
          <p:nvPr/>
        </p:nvPicPr>
        <p:blipFill>
          <a:blip r:embed="rId3"/>
          <a:stretch>
            <a:fillRect/>
          </a:stretch>
        </p:blipFill>
        <p:spPr>
          <a:xfrm>
            <a:off x="6351670" y="3901825"/>
            <a:ext cx="3359323" cy="2216264"/>
          </a:xfrm>
          <a:prstGeom prst="rect">
            <a:avLst/>
          </a:prstGeom>
        </p:spPr>
      </p:pic>
    </p:spTree>
    <p:extLst>
      <p:ext uri="{BB962C8B-B14F-4D97-AF65-F5344CB8AC3E}">
        <p14:creationId xmlns:p14="http://schemas.microsoft.com/office/powerpoint/2010/main" val="3096985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0E113-E65F-0FF9-A4C9-A95DBCC5D304}"/>
              </a:ext>
            </a:extLst>
          </p:cNvPr>
          <p:cNvSpPr>
            <a:spLocks noGrp="1"/>
          </p:cNvSpPr>
          <p:nvPr>
            <p:ph type="title"/>
          </p:nvPr>
        </p:nvSpPr>
        <p:spPr>
          <a:xfrm>
            <a:off x="1141413" y="618518"/>
            <a:ext cx="9905998" cy="952830"/>
          </a:xfrm>
        </p:spPr>
        <p:txBody>
          <a:bodyPr>
            <a:normAutofit/>
          </a:bodyPr>
          <a:lstStyle/>
          <a:p>
            <a:r>
              <a:rPr lang="en-US" sz="1800" dirty="0">
                <a:latin typeface="Times New Roman" panose="02020603050405020304" pitchFamily="18" charset="0"/>
                <a:cs typeface="Times New Roman" panose="02020603050405020304" pitchFamily="18" charset="0"/>
              </a:rPr>
              <a:t>Training and Testing: </a:t>
            </a:r>
          </a:p>
        </p:txBody>
      </p:sp>
      <p:sp>
        <p:nvSpPr>
          <p:cNvPr id="3" name="Content Placeholder 2">
            <a:extLst>
              <a:ext uri="{FF2B5EF4-FFF2-40B4-BE49-F238E27FC236}">
                <a16:creationId xmlns:a16="http://schemas.microsoft.com/office/drawing/2014/main" id="{34F39960-4181-D88E-15D1-8D19F671D8C8}"/>
              </a:ext>
            </a:extLst>
          </p:cNvPr>
          <p:cNvSpPr>
            <a:spLocks noGrp="1"/>
          </p:cNvSpPr>
          <p:nvPr>
            <p:ph idx="1"/>
          </p:nvPr>
        </p:nvSpPr>
        <p:spPr>
          <a:xfrm>
            <a:off x="1141412" y="1660123"/>
            <a:ext cx="9905999" cy="4131077"/>
          </a:xfrm>
        </p:spPr>
        <p:txBody>
          <a:bodyPr/>
          <a:lstStyle/>
          <a:p>
            <a:pPr marL="230188" marR="0" lvl="1" indent="-230188">
              <a:spcBef>
                <a:spcPts val="1000"/>
              </a:spcBef>
              <a:buFont typeface="Arial" panose="020B0604020202020204" pitchFamily="34" charset="0"/>
              <a:buChar char="•"/>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Data Splitting: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Split into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70% training</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30% testing</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datasets</a:t>
            </a:r>
          </a:p>
          <a:p>
            <a:pPr marL="230188" lvl="1" indent="-230188">
              <a:spcBef>
                <a:spcPts val="1000"/>
              </a:spcBef>
            </a:pPr>
            <a:r>
              <a:rPr lang="en-US" sz="2000" dirty="0"/>
              <a:t>Multiple models used, such as KNN, SVM (Support Vector Machine), Decision Tree, Naive Bayes, Neural Networks, and others.</a:t>
            </a:r>
          </a:p>
          <a:p>
            <a:pPr marL="230188" marR="0" lvl="1" indent="-230188">
              <a:lnSpc>
                <a:spcPct val="210000"/>
              </a:lnSpc>
              <a:spcBef>
                <a:spcPts val="1000"/>
              </a:spcBef>
              <a:buFont typeface="Arial" panose="020B0604020202020204" pitchFamily="34" charset="0"/>
              <a:buChar char="•"/>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30188" marR="0" lvl="1" indent="-230188">
              <a:lnSpc>
                <a:spcPct val="210000"/>
              </a:lnSpc>
              <a:spcBef>
                <a:spcPts val="1000"/>
              </a:spcBef>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CB489D22-2C76-B512-182D-B3EE924E92C2}"/>
              </a:ext>
            </a:extLst>
          </p:cNvPr>
          <p:cNvPicPr>
            <a:picLocks noChangeAspect="1"/>
          </p:cNvPicPr>
          <p:nvPr/>
        </p:nvPicPr>
        <p:blipFill>
          <a:blip r:embed="rId2"/>
          <a:stretch>
            <a:fillRect/>
          </a:stretch>
        </p:blipFill>
        <p:spPr>
          <a:xfrm>
            <a:off x="1330400" y="3259822"/>
            <a:ext cx="9087317" cy="1581231"/>
          </a:xfrm>
          <a:prstGeom prst="rect">
            <a:avLst/>
          </a:prstGeom>
        </p:spPr>
      </p:pic>
    </p:spTree>
    <p:extLst>
      <p:ext uri="{BB962C8B-B14F-4D97-AF65-F5344CB8AC3E}">
        <p14:creationId xmlns:p14="http://schemas.microsoft.com/office/powerpoint/2010/main" val="720368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960F-2F6F-A6E7-12B5-09E670154C36}"/>
              </a:ext>
            </a:extLst>
          </p:cNvPr>
          <p:cNvSpPr>
            <a:spLocks noGrp="1"/>
          </p:cNvSpPr>
          <p:nvPr>
            <p:ph type="title"/>
          </p:nvPr>
        </p:nvSpPr>
        <p:spPr>
          <a:xfrm>
            <a:off x="1242873" y="512343"/>
            <a:ext cx="8890137" cy="1257300"/>
          </a:xfrm>
        </p:spPr>
        <p:txBody>
          <a:bodyPr>
            <a:normAutofit/>
          </a:bodyPr>
          <a:lstStyle/>
          <a:p>
            <a:r>
              <a:rPr lang="en-US" sz="1800"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22F7AE53-448F-158E-46C9-B01E66A66B57}"/>
              </a:ext>
            </a:extLst>
          </p:cNvPr>
          <p:cNvSpPr>
            <a:spLocks noGrp="1"/>
          </p:cNvSpPr>
          <p:nvPr>
            <p:ph idx="1"/>
          </p:nvPr>
        </p:nvSpPr>
        <p:spPr>
          <a:xfrm>
            <a:off x="1141412" y="1553614"/>
            <a:ext cx="9905999" cy="3541714"/>
          </a:xfrm>
        </p:spPr>
        <p:txBody>
          <a:bodyPr/>
          <a:lstStyle/>
          <a:p>
            <a:pPr marL="228600" marR="0" lvl="0" indent="-228600" algn="l"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Tw Cen MT" panose="020B0602020104020603"/>
                <a:ea typeface="+mn-ea"/>
                <a:cs typeface="+mn-cs"/>
              </a:rPr>
              <a:t>Accuracy Result:</a:t>
            </a:r>
          </a:p>
          <a:p>
            <a:pPr marL="228600" marR="0" lvl="0" indent="-228600" algn="l"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endParaRPr lang="en-US" dirty="0">
              <a:solidFill>
                <a:prstClr val="white"/>
              </a:solidFill>
              <a:latin typeface="Tw Cen MT" panose="020B0602020104020603"/>
            </a:endParaRPr>
          </a:p>
          <a:p>
            <a:pPr marL="228600" marR="0" lvl="0" indent="-228600" algn="l"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Tw Cen MT" panose="020B0602020104020603"/>
                <a:ea typeface="+mn-ea"/>
                <a:cs typeface="+mn-cs"/>
              </a:rPr>
              <a:t>Visualization: </a:t>
            </a:r>
          </a:p>
          <a:p>
            <a:pPr marL="228600" marR="0" lvl="0" indent="-228600" algn="l"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endParaRPr lang="en-US" dirty="0">
              <a:solidFill>
                <a:prstClr val="white"/>
              </a:solidFill>
              <a:latin typeface="Tw Cen MT" panose="020B0602020104020603"/>
            </a:endParaRPr>
          </a:p>
          <a:p>
            <a:pPr marL="684213" marR="0" lvl="0" algn="l" defTabSz="914400" rtl="0" eaLnBrk="1" fontAlgn="auto" latinLnBrk="0" hangingPunct="1">
              <a:lnSpc>
                <a:spcPct val="120000"/>
              </a:lnSpc>
              <a:spcBef>
                <a:spcPts val="1000"/>
              </a:spcBef>
              <a:spcAft>
                <a:spcPts val="0"/>
              </a:spcAft>
              <a:buClrTx/>
              <a:buSzPct val="125000"/>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Tw Cen MT" panose="020B0602020104020603"/>
                <a:ea typeface="+mn-ea"/>
                <a:cs typeface="+mn-cs"/>
              </a:rPr>
              <a:t>Bar Chart</a:t>
            </a:r>
            <a:endParaRPr lang="en-US" dirty="0"/>
          </a:p>
        </p:txBody>
      </p:sp>
      <p:pic>
        <p:nvPicPr>
          <p:cNvPr id="6" name="Picture 5">
            <a:extLst>
              <a:ext uri="{FF2B5EF4-FFF2-40B4-BE49-F238E27FC236}">
                <a16:creationId xmlns:a16="http://schemas.microsoft.com/office/drawing/2014/main" id="{ED764670-9CA1-0E98-FB36-EA9D215B95EF}"/>
              </a:ext>
            </a:extLst>
          </p:cNvPr>
          <p:cNvPicPr>
            <a:picLocks noChangeAspect="1"/>
          </p:cNvPicPr>
          <p:nvPr/>
        </p:nvPicPr>
        <p:blipFill>
          <a:blip r:embed="rId2"/>
          <a:stretch>
            <a:fillRect/>
          </a:stretch>
        </p:blipFill>
        <p:spPr>
          <a:xfrm>
            <a:off x="3847822" y="1224639"/>
            <a:ext cx="2910840" cy="1257300"/>
          </a:xfrm>
          <a:prstGeom prst="rect">
            <a:avLst/>
          </a:prstGeom>
        </p:spPr>
      </p:pic>
      <p:pic>
        <p:nvPicPr>
          <p:cNvPr id="9" name="Picture 8">
            <a:extLst>
              <a:ext uri="{FF2B5EF4-FFF2-40B4-BE49-F238E27FC236}">
                <a16:creationId xmlns:a16="http://schemas.microsoft.com/office/drawing/2014/main" id="{2BF41BE1-9081-C78A-E003-B96A3F98E571}"/>
              </a:ext>
            </a:extLst>
          </p:cNvPr>
          <p:cNvPicPr>
            <a:picLocks noChangeAspect="1"/>
          </p:cNvPicPr>
          <p:nvPr/>
        </p:nvPicPr>
        <p:blipFill>
          <a:blip r:embed="rId3"/>
          <a:stretch>
            <a:fillRect/>
          </a:stretch>
        </p:blipFill>
        <p:spPr>
          <a:xfrm>
            <a:off x="3673745" y="2810914"/>
            <a:ext cx="3827164" cy="3155102"/>
          </a:xfrm>
          <a:prstGeom prst="rect">
            <a:avLst/>
          </a:prstGeom>
        </p:spPr>
      </p:pic>
    </p:spTree>
    <p:extLst>
      <p:ext uri="{BB962C8B-B14F-4D97-AF65-F5344CB8AC3E}">
        <p14:creationId xmlns:p14="http://schemas.microsoft.com/office/powerpoint/2010/main" val="309310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1EE72-44A1-0F73-3A66-C08458BF985F}"/>
              </a:ext>
            </a:extLst>
          </p:cNvPr>
          <p:cNvSpPr>
            <a:spLocks noGrp="1"/>
          </p:cNvSpPr>
          <p:nvPr>
            <p:ph type="title"/>
          </p:nvPr>
        </p:nvSpPr>
        <p:spPr>
          <a:xfrm>
            <a:off x="1003176" y="384306"/>
            <a:ext cx="9919947" cy="1339919"/>
          </a:xfrm>
        </p:spPr>
        <p:txBody>
          <a:bodyPr>
            <a:normAutofit/>
          </a:bodyPr>
          <a:lstStyle/>
          <a:p>
            <a:r>
              <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Confusion Matrices: </a:t>
            </a:r>
            <a:endParaRPr lang="en-US" sz="1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EC31134-A4E6-3E75-1A61-74983B2386CC}"/>
              </a:ext>
            </a:extLst>
          </p:cNvPr>
          <p:cNvPicPr>
            <a:picLocks noChangeAspect="1"/>
          </p:cNvPicPr>
          <p:nvPr/>
        </p:nvPicPr>
        <p:blipFill>
          <a:blip r:embed="rId2"/>
          <a:stretch>
            <a:fillRect/>
          </a:stretch>
        </p:blipFill>
        <p:spPr>
          <a:xfrm>
            <a:off x="8464665" y="121527"/>
            <a:ext cx="3587934" cy="1339919"/>
          </a:xfrm>
          <a:prstGeom prst="rect">
            <a:avLst/>
          </a:prstGeom>
        </p:spPr>
      </p:pic>
      <p:pic>
        <p:nvPicPr>
          <p:cNvPr id="8" name="Content Placeholder 7">
            <a:extLst>
              <a:ext uri="{FF2B5EF4-FFF2-40B4-BE49-F238E27FC236}">
                <a16:creationId xmlns:a16="http://schemas.microsoft.com/office/drawing/2014/main" id="{7E3A8755-1C74-1CF9-D7F1-337FD14089F3}"/>
              </a:ext>
            </a:extLst>
          </p:cNvPr>
          <p:cNvPicPr>
            <a:picLocks noGrp="1" noChangeAspect="1"/>
          </p:cNvPicPr>
          <p:nvPr>
            <p:ph idx="1"/>
          </p:nvPr>
        </p:nvPicPr>
        <p:blipFill>
          <a:blip r:embed="rId3"/>
          <a:stretch>
            <a:fillRect/>
          </a:stretch>
        </p:blipFill>
        <p:spPr>
          <a:xfrm>
            <a:off x="1003176" y="1419015"/>
            <a:ext cx="3494806" cy="2684718"/>
          </a:xfrm>
        </p:spPr>
      </p:pic>
      <p:pic>
        <p:nvPicPr>
          <p:cNvPr id="12" name="Picture 11">
            <a:extLst>
              <a:ext uri="{FF2B5EF4-FFF2-40B4-BE49-F238E27FC236}">
                <a16:creationId xmlns:a16="http://schemas.microsoft.com/office/drawing/2014/main" id="{0F9A3DFF-21E7-E255-F33B-11901F908E4D}"/>
              </a:ext>
            </a:extLst>
          </p:cNvPr>
          <p:cNvPicPr>
            <a:picLocks noChangeAspect="1"/>
          </p:cNvPicPr>
          <p:nvPr/>
        </p:nvPicPr>
        <p:blipFill>
          <a:blip r:embed="rId4"/>
          <a:stretch>
            <a:fillRect/>
          </a:stretch>
        </p:blipFill>
        <p:spPr>
          <a:xfrm>
            <a:off x="4628081" y="2308194"/>
            <a:ext cx="3511590" cy="2684718"/>
          </a:xfrm>
          <a:prstGeom prst="rect">
            <a:avLst/>
          </a:prstGeom>
        </p:spPr>
      </p:pic>
      <p:pic>
        <p:nvPicPr>
          <p:cNvPr id="14" name="Picture 13">
            <a:extLst>
              <a:ext uri="{FF2B5EF4-FFF2-40B4-BE49-F238E27FC236}">
                <a16:creationId xmlns:a16="http://schemas.microsoft.com/office/drawing/2014/main" id="{58B30986-75F6-F026-FB1C-25DF6F028D34}"/>
              </a:ext>
            </a:extLst>
          </p:cNvPr>
          <p:cNvPicPr>
            <a:picLocks noChangeAspect="1"/>
          </p:cNvPicPr>
          <p:nvPr/>
        </p:nvPicPr>
        <p:blipFill>
          <a:blip r:embed="rId5"/>
          <a:stretch>
            <a:fillRect/>
          </a:stretch>
        </p:blipFill>
        <p:spPr>
          <a:xfrm>
            <a:off x="8269770" y="3018407"/>
            <a:ext cx="3782829" cy="3004869"/>
          </a:xfrm>
          <a:prstGeom prst="rect">
            <a:avLst/>
          </a:prstGeom>
        </p:spPr>
      </p:pic>
    </p:spTree>
    <p:extLst>
      <p:ext uri="{BB962C8B-B14F-4D97-AF65-F5344CB8AC3E}">
        <p14:creationId xmlns:p14="http://schemas.microsoft.com/office/powerpoint/2010/main" val="2025292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A0345-1D99-3812-2E3A-57A8BFE997C5}"/>
              </a:ext>
            </a:extLst>
          </p:cNvPr>
          <p:cNvSpPr>
            <a:spLocks noGrp="1"/>
          </p:cNvSpPr>
          <p:nvPr>
            <p:ph type="title"/>
          </p:nvPr>
        </p:nvSpPr>
        <p:spPr>
          <a:xfrm>
            <a:off x="1141412" y="1178956"/>
            <a:ext cx="9905998" cy="1478570"/>
          </a:xfrm>
        </p:spPr>
        <p:txBody>
          <a:bodyPr/>
          <a:lstStyle/>
          <a:p>
            <a:r>
              <a:rPr lang="en-US" sz="1800" b="1" dirty="0">
                <a:effectLst/>
                <a:latin typeface="Times New Roman" panose="02020603050405020304" pitchFamily="18" charset="0"/>
                <a:ea typeface="Calibri" panose="020F0502020204030204" pitchFamily="34" charset="0"/>
              </a:rPr>
              <a:t>Conclusion:</a:t>
            </a:r>
            <a:endParaRPr lang="en-US" dirty="0"/>
          </a:p>
        </p:txBody>
      </p:sp>
      <p:sp>
        <p:nvSpPr>
          <p:cNvPr id="3" name="Content Placeholder 2">
            <a:extLst>
              <a:ext uri="{FF2B5EF4-FFF2-40B4-BE49-F238E27FC236}">
                <a16:creationId xmlns:a16="http://schemas.microsoft.com/office/drawing/2014/main" id="{4D780492-031C-9150-1C49-911600188BF7}"/>
              </a:ext>
            </a:extLst>
          </p:cNvPr>
          <p:cNvSpPr>
            <a:spLocks noGrp="1"/>
          </p:cNvSpPr>
          <p:nvPr>
            <p:ph idx="1"/>
          </p:nvPr>
        </p:nvSpPr>
        <p:spPr/>
        <p:txBody>
          <a:bodyPr/>
          <a:lstStyle/>
          <a:p>
            <a:r>
              <a:rPr lang="en-US" sz="1800" dirty="0">
                <a:effectLst/>
                <a:latin typeface="Times New Roman" panose="02020603050405020304" pitchFamily="18" charset="0"/>
                <a:ea typeface="Calibri" panose="020F0502020204030204" pitchFamily="34" charset="0"/>
              </a:rPr>
              <a:t>Comparing the accuracy scores and classification enables the identification of the most effective method for DNA/RNA classification. Here in this project, since my data is small, Naïve Bayes scored outperformed others. But in reality, if you have a bigger data, the SVM is better for DNA Classification.</a:t>
            </a:r>
          </a:p>
          <a:p>
            <a:r>
              <a:rPr lang="en-US" sz="1800" dirty="0">
                <a:effectLst/>
                <a:latin typeface="Times New Roman" panose="02020603050405020304" pitchFamily="18" charset="0"/>
                <a:ea typeface="Calibri" panose="020F0502020204030204" pitchFamily="34" charset="0"/>
              </a:rPr>
              <a:t>As this project involves exploring and applying various machine learning techniques, it provides valuable insights into the underlying processes involved in building ML/AI models.</a:t>
            </a:r>
            <a:endParaRPr lang="en-US" dirty="0"/>
          </a:p>
        </p:txBody>
      </p:sp>
    </p:spTree>
    <p:extLst>
      <p:ext uri="{BB962C8B-B14F-4D97-AF65-F5344CB8AC3E}">
        <p14:creationId xmlns:p14="http://schemas.microsoft.com/office/powerpoint/2010/main" val="1676018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0BCE6-C13E-D38D-4E44-393E6A58D246}"/>
              </a:ext>
            </a:extLst>
          </p:cNvPr>
          <p:cNvSpPr>
            <a:spLocks noGrp="1"/>
          </p:cNvSpPr>
          <p:nvPr>
            <p:ph type="title"/>
          </p:nvPr>
        </p:nvSpPr>
        <p:spPr>
          <a:xfrm>
            <a:off x="1249567" y="2565305"/>
            <a:ext cx="9905998" cy="1478570"/>
          </a:xfrm>
        </p:spPr>
        <p:txBody>
          <a:bodyPr/>
          <a:lstStyle/>
          <a:p>
            <a:pPr algn="ctr"/>
            <a:r>
              <a:rPr lang="en-US" dirty="0"/>
              <a:t>Thank you!</a:t>
            </a:r>
          </a:p>
        </p:txBody>
      </p:sp>
    </p:spTree>
    <p:extLst>
      <p:ext uri="{BB962C8B-B14F-4D97-AF65-F5344CB8AC3E}">
        <p14:creationId xmlns:p14="http://schemas.microsoft.com/office/powerpoint/2010/main" val="3065876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1C905-E069-9224-DC67-5B8F4EE5635D}"/>
              </a:ext>
            </a:extLst>
          </p:cNvPr>
          <p:cNvSpPr>
            <a:spLocks noGrp="1"/>
          </p:cNvSpPr>
          <p:nvPr>
            <p:ph type="title"/>
          </p:nvPr>
        </p:nvSpPr>
        <p:spPr>
          <a:xfrm>
            <a:off x="1141413" y="618518"/>
            <a:ext cx="9905998" cy="1033301"/>
          </a:xfrm>
        </p:spPr>
        <p:txBody>
          <a:bodyPr/>
          <a:lstStyle/>
          <a:p>
            <a:pPr algn="ct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Works Cited</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6450D4F-E98E-8152-1635-55CEDF2E0F2F}"/>
              </a:ext>
            </a:extLst>
          </p:cNvPr>
          <p:cNvSpPr>
            <a:spLocks noGrp="1"/>
          </p:cNvSpPr>
          <p:nvPr>
            <p:ph idx="1"/>
          </p:nvPr>
        </p:nvSpPr>
        <p:spPr>
          <a:xfrm>
            <a:off x="1249567" y="1288026"/>
            <a:ext cx="9905999" cy="4768646"/>
          </a:xfrm>
        </p:spPr>
        <p:txBody>
          <a:bodyPr>
            <a:normAutofit/>
          </a:bodyPr>
          <a:lstStyle/>
          <a:p>
            <a:pPr marL="457200" marR="0" indent="-457200">
              <a:lnSpc>
                <a:spcPct val="20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Elgala, Hany. Class Notes, “Introduction to Machine Learning for Engineers- IECE 565.”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20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Harley, C., R. Reynolds, and M. Noordewier. "Molecular Biology (Promoter Gene Sequences)." UCI Machine Learning Repository, 1987,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https://doi.org/10.24432/C5S01D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Accessed 4 Feb. 2025.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20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ajitsingh98. “GitHub - Ajitsingh98/DNA-Classification-Machine-Learning-Project: Classify DNA Sequence into Binary Class Using Different Classification Algorithms.”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GitHub</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2019, github.com/ajitsingh98/DNA-Classification-Machine-Learning-Project. Accessed 4 Feb. 2025.</a:t>
            </a:r>
          </a:p>
          <a:p>
            <a:pPr marL="457200" marR="0" indent="-457200">
              <a:lnSpc>
                <a:spcPct val="200000"/>
              </a:lnSpc>
              <a:spcAft>
                <a:spcPts val="800"/>
              </a:spcAft>
            </a:pPr>
            <a:r>
              <a:rPr lang="en-US" sz="1800" dirty="0">
                <a:latin typeface="Times New Roman" panose="02020603050405020304" pitchFamily="18" charset="0"/>
                <a:ea typeface="Calibri" panose="020F0502020204030204" pitchFamily="34" charset="0"/>
                <a:cs typeface="Times New Roman" panose="02020603050405020304" pitchFamily="18" charset="0"/>
              </a:rPr>
              <a:t>Chat GPT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188873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486</TotalTime>
  <Words>733</Words>
  <Application>Microsoft Office PowerPoint</Application>
  <PresentationFormat>Widescreen</PresentationFormat>
  <Paragraphs>61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Tw Cen MT</vt:lpstr>
      <vt:lpstr>Circuit</vt:lpstr>
      <vt:lpstr>   Applying Machine Learning  Modules on a DNA strand i.e., on a  Prompter Genes Project Progress Update </vt:lpstr>
      <vt:lpstr>Introduction: </vt:lpstr>
      <vt:lpstr>Purpose and goals: </vt:lpstr>
      <vt:lpstr>Approach and methodology: </vt:lpstr>
      <vt:lpstr>Data Collection:</vt:lpstr>
      <vt:lpstr>About Data: </vt:lpstr>
      <vt:lpstr>Data Set-Up:</vt:lpstr>
      <vt:lpstr>Pre-processing:  </vt:lpstr>
      <vt:lpstr>Training and Testing: </vt:lpstr>
      <vt:lpstr>Results:</vt:lpstr>
      <vt:lpstr>Confusion Matrices: </vt:lpstr>
      <vt:lpstr>Conclusion:</vt:lpstr>
      <vt:lpstr>Thank you!</vt:lpstr>
      <vt:lpstr>Works Cited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Saroj Shah</dc:creator>
  <cp:lastModifiedBy>Saroj Shah</cp:lastModifiedBy>
  <cp:revision>23</cp:revision>
  <dcterms:created xsi:type="dcterms:W3CDTF">2025-02-05T06:16:52Z</dcterms:created>
  <dcterms:modified xsi:type="dcterms:W3CDTF">2025-04-23T03:01:12Z</dcterms:modified>
</cp:coreProperties>
</file>